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6257" y="1514602"/>
            <a:ext cx="3498850" cy="414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048" y="72898"/>
            <a:ext cx="9974021" cy="1562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C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117" y="1541525"/>
            <a:ext cx="10604500" cy="393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228600" y="12192"/>
            <a:ext cx="9974021" cy="936024"/>
          </a:xfrm>
          <a:prstGeom prst="rect">
            <a:avLst/>
          </a:prstGeom>
        </p:spPr>
        <p:txBody>
          <a:bodyPr vert="horz" wrap="square" lIns="0" tIns="304672" rIns="0" bIns="0" rtlCol="0">
            <a:spAutoFit/>
          </a:bodyPr>
          <a:lstStyle/>
          <a:p>
            <a:pPr marL="554355" algn="ctr">
              <a:lnSpc>
                <a:spcPts val="4900"/>
              </a:lnSpc>
            </a:pPr>
            <a:r>
              <a:rPr sz="4300" b="1" dirty="0">
                <a:solidFill>
                  <a:srgbClr val="000000"/>
                </a:solidFill>
                <a:latin typeface="Times New Roman"/>
                <a:cs typeface="Times New Roman"/>
              </a:rPr>
              <a:t>Online</a:t>
            </a:r>
            <a:r>
              <a:rPr sz="4300" b="1" spc="-1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1" dirty="0">
                <a:solidFill>
                  <a:srgbClr val="000000"/>
                </a:solidFill>
                <a:latin typeface="Times New Roman"/>
                <a:cs typeface="Times New Roman"/>
              </a:rPr>
              <a:t>Grocery</a:t>
            </a:r>
            <a:r>
              <a:rPr sz="4300" b="1" spc="-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1" dirty="0">
                <a:solidFill>
                  <a:srgbClr val="000000"/>
                </a:solidFill>
                <a:latin typeface="Times New Roman"/>
                <a:cs typeface="Times New Roman"/>
              </a:rPr>
              <a:t>Billing</a:t>
            </a:r>
            <a:r>
              <a:rPr sz="4300" b="1" spc="-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3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endParaRPr sz="43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0800" y="2362200"/>
            <a:ext cx="5227829" cy="2747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53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Course: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Introduction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Data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Structures</a:t>
            </a:r>
            <a:endParaRPr dirty="0">
              <a:latin typeface="Times New Roman"/>
              <a:cs typeface="Times New Roman"/>
            </a:endParaRPr>
          </a:p>
          <a:p>
            <a:pPr algn="ctr">
              <a:lnSpc>
                <a:spcPts val="1530"/>
              </a:lnSpc>
            </a:pPr>
            <a:r>
              <a:rPr b="1" dirty="0">
                <a:latin typeface="Times New Roman"/>
                <a:cs typeface="Times New Roman"/>
              </a:rPr>
              <a:t>Group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no.</a:t>
            </a:r>
            <a:r>
              <a:rPr lang="en-US" b="1" spc="-25" dirty="0">
                <a:latin typeface="Times New Roman"/>
                <a:cs typeface="Times New Roman"/>
              </a:rPr>
              <a:t>18</a:t>
            </a:r>
            <a:endParaRPr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lang="en-US" b="1" spc="-25" dirty="0">
                <a:latin typeface="Times New Roman"/>
                <a:cs typeface="Times New Roman"/>
              </a:rPr>
              <a:t>Yash kharmale 69</a:t>
            </a: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lang="en-US" b="1" spc="-25" dirty="0">
                <a:latin typeface="Times New Roman"/>
                <a:cs typeface="Times New Roman"/>
              </a:rPr>
              <a:t>70</a:t>
            </a: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lang="en-US" b="1" spc="-25" dirty="0">
                <a:latin typeface="Times New Roman"/>
                <a:cs typeface="Times New Roman"/>
              </a:rPr>
              <a:t>71</a:t>
            </a: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lang="en-US" b="1" spc="-25" dirty="0">
                <a:latin typeface="Times New Roman"/>
                <a:cs typeface="Times New Roman"/>
              </a:rPr>
              <a:t>72</a:t>
            </a:r>
            <a:endParaRPr dirty="0">
              <a:latin typeface="Times New Roman"/>
              <a:cs typeface="Times New Roman"/>
            </a:endParaRPr>
          </a:p>
          <a:p>
            <a:pPr marL="1202690" marR="1196340" indent="1270" algn="ctr">
              <a:lnSpc>
                <a:spcPct val="70000"/>
              </a:lnSpc>
              <a:spcBef>
                <a:spcPts val="994"/>
              </a:spcBef>
            </a:pPr>
            <a:r>
              <a:rPr dirty="0">
                <a:latin typeface="Times New Roman"/>
                <a:cs typeface="Times New Roman"/>
              </a:rPr>
              <a:t>Class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:SOC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lang="en-IN" spc="-50" dirty="0">
                <a:latin typeface="Times New Roman"/>
                <a:cs typeface="Times New Roman"/>
              </a:rPr>
              <a:t>–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lang="en-US" spc="-50" dirty="0">
                <a:latin typeface="Times New Roman"/>
                <a:cs typeface="Times New Roman"/>
              </a:rPr>
              <a:t>15 </a:t>
            </a:r>
          </a:p>
          <a:p>
            <a:pPr marL="1202690" marR="1196340" indent="1270" algn="ctr">
              <a:lnSpc>
                <a:spcPct val="70000"/>
              </a:lnSpc>
              <a:spcBef>
                <a:spcPts val="994"/>
              </a:spcBef>
            </a:pPr>
            <a:r>
              <a:rPr dirty="0">
                <a:latin typeface="Times New Roman"/>
                <a:cs typeface="Times New Roman"/>
              </a:rPr>
              <a:t>Faculty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 err="1">
                <a:latin typeface="Times New Roman"/>
                <a:cs typeface="Times New Roman"/>
              </a:rPr>
              <a:t>Name:</a:t>
            </a:r>
            <a:r>
              <a:rPr lang="en-US" spc="-10" dirty="0" err="1">
                <a:latin typeface="Times New Roman"/>
                <a:cs typeface="Times New Roman"/>
              </a:rPr>
              <a:t>pujapwle</a:t>
            </a:r>
            <a:endParaRPr dirty="0">
              <a:latin typeface="Times New Roman"/>
              <a:cs typeface="Times New Roman"/>
            </a:endParaRPr>
          </a:p>
          <a:p>
            <a:pPr marL="982980">
              <a:lnSpc>
                <a:spcPct val="100000"/>
              </a:lnSpc>
              <a:spcBef>
                <a:spcPts val="470"/>
              </a:spcBef>
            </a:pPr>
            <a:r>
              <a:rPr lang="en-US" dirty="0">
                <a:latin typeface="Times New Roman"/>
                <a:cs typeface="Times New Roman"/>
              </a:rPr>
              <a:t>     </a:t>
            </a:r>
            <a:r>
              <a:rPr dirty="0">
                <a:latin typeface="Times New Roman"/>
                <a:cs typeface="Times New Roman"/>
              </a:rPr>
              <a:t>A.Y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2025-26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Sem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II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6146" name="Picture 2" descr="Shopping cart full of food and drinks and supermarket shelves behind ...">
            <a:extLst>
              <a:ext uri="{FF2B5EF4-FFF2-40B4-BE49-F238E27FC236}">
                <a16:creationId xmlns:a16="http://schemas.microsoft.com/office/drawing/2014/main" id="{4366C1F4-A85C-8B2A-5340-722D3A789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22686"/>
            <a:ext cx="6248400" cy="354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77" rIns="0" bIns="0" rtlCol="0">
            <a:spAutoFit/>
          </a:bodyPr>
          <a:lstStyle/>
          <a:p>
            <a:pPr marL="4538345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Index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8586"/>
            <a:ext cx="2907030" cy="25831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Times New Roman"/>
                <a:cs typeface="Times New Roman"/>
              </a:rPr>
              <a:t>Implementation</a:t>
            </a:r>
            <a:endParaRPr sz="2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48" y="72898"/>
            <a:ext cx="9974021" cy="1249521"/>
          </a:xfrm>
          <a:prstGeom prst="rect">
            <a:avLst/>
          </a:prstGeom>
        </p:spPr>
        <p:txBody>
          <a:bodyPr vert="horz" wrap="square" lIns="0" tIns="566877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Problem</a:t>
            </a:r>
            <a:r>
              <a:rPr sz="4400" spc="-15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Overview</a:t>
            </a:r>
            <a:endParaRPr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84F7F-C401-0FA3-636C-D8DFF13E569C}"/>
              </a:ext>
            </a:extLst>
          </p:cNvPr>
          <p:cNvSpPr txBox="1"/>
          <p:nvPr/>
        </p:nvSpPr>
        <p:spPr>
          <a:xfrm>
            <a:off x="304800" y="1524000"/>
            <a:ext cx="11201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Traditional Method:</a:t>
            </a:r>
            <a:r>
              <a:rPr lang="en-US" dirty="0"/>
              <a:t> Customers face long queues, manual price checks, and slow billing at physical counters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The Inefficiency:</a:t>
            </a:r>
            <a:r>
              <a:rPr lang="en-US" dirty="0"/>
              <a:t> Manual navigation to find items and waiting for a cashier is outdated and time-consuming.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The Solution:</a:t>
            </a:r>
            <a:r>
              <a:rPr lang="en-US" dirty="0"/>
              <a:t> A digital system that provides real-time item info, location tracking, transparent pricing, and instant online billing to save effort and time.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DC6830-E30B-6401-FF0B-290DF1F0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382" y="4038600"/>
            <a:ext cx="4918418" cy="2684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603" rIns="0" bIns="0" rtlCol="0">
            <a:spAutoFit/>
          </a:bodyPr>
          <a:lstStyle/>
          <a:p>
            <a:pPr marL="2976245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</a:t>
            </a:r>
            <a:r>
              <a:rPr sz="4400" b="1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statement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637" y="1635505"/>
            <a:ext cx="10441432" cy="26359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spcBef>
                <a:spcPts val="95"/>
              </a:spcBef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Content:</a:t>
            </a:r>
            <a:endParaRPr lang="en-US" sz="2400" b="1" spc="-10" dirty="0">
              <a:latin typeface="Times New Roman"/>
              <a:cs typeface="Times New Roman"/>
            </a:endParaRPr>
          </a:p>
          <a:p>
            <a:pPr marL="135255" indent="-133350">
              <a:spcBef>
                <a:spcPts val="95"/>
              </a:spcBef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lang="en-US" b="1" spc="-10" dirty="0">
                <a:latin typeface="Times New Roman"/>
                <a:cs typeface="Times New Roman"/>
              </a:rPr>
              <a:t> </a:t>
            </a:r>
            <a:r>
              <a:rPr lang="en-US" b="1" dirty="0"/>
              <a:t>Real-time Access:</a:t>
            </a:r>
            <a:r>
              <a:rPr lang="en-US" dirty="0"/>
              <a:t> Provide users with instant information on grocery availability and exact in-store locations.</a:t>
            </a:r>
            <a:br>
              <a:rPr lang="en-US" dirty="0"/>
            </a:br>
            <a:r>
              <a:rPr lang="en-US" b="1" dirty="0"/>
              <a:t>Dynamic Shopping:</a:t>
            </a:r>
            <a:r>
              <a:rPr lang="en-US" dirty="0"/>
              <a:t> Enable users to manage a virtual cart by adding, removing, or updating item quantities on the go.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Seamless Billing:</a:t>
            </a:r>
            <a:r>
              <a:rPr lang="en-US" dirty="0"/>
              <a:t> Implement an automated calculation engine for subtotals, discounts, and taxes to eliminate physical queues.</a:t>
            </a:r>
          </a:p>
          <a:p>
            <a:pPr marL="1905">
              <a:lnSpc>
                <a:spcPct val="100000"/>
              </a:lnSpc>
              <a:spcBef>
                <a:spcPts val="95"/>
              </a:spcBef>
              <a:buSzPct val="96428"/>
              <a:tabLst>
                <a:tab pos="135255" algn="l"/>
              </a:tabLst>
            </a:pPr>
            <a:r>
              <a:rPr lang="en-US" dirty="0">
                <a:latin typeface="Times New Roman"/>
                <a:cs typeface="Times New Roman"/>
              </a:rPr>
              <a:t>  </a:t>
            </a:r>
            <a:r>
              <a:rPr lang="en-US" b="1" dirty="0"/>
              <a:t>Efficiency:</a:t>
            </a:r>
            <a:r>
              <a:rPr lang="en-US" dirty="0"/>
              <a:t> Save customer time and effort through a fast, mobile-accessible interface.</a:t>
            </a:r>
            <a:endParaRPr lang="en-US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158" y="4790869"/>
            <a:ext cx="11051032" cy="14407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spcBef>
                <a:spcPts val="95"/>
              </a:spcBef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Objective</a:t>
            </a:r>
            <a:r>
              <a:rPr sz="2800" b="1" spc="-10" dirty="0">
                <a:latin typeface="Times New Roman"/>
                <a:cs typeface="Times New Roman"/>
              </a:rPr>
              <a:t>:</a:t>
            </a:r>
            <a:r>
              <a:rPr lang="en-US" sz="2800" b="1" spc="-10" dirty="0">
                <a:latin typeface="Times New Roman"/>
                <a:cs typeface="Times New Roman"/>
              </a:rPr>
              <a:t> </a:t>
            </a:r>
          </a:p>
          <a:p>
            <a:pPr marL="135255" indent="-133350">
              <a:spcBef>
                <a:spcPts val="95"/>
              </a:spcBef>
              <a:buSzPct val="96428"/>
              <a:buFont typeface="Times New Roman"/>
              <a:buChar char="•"/>
              <a:tabLst>
                <a:tab pos="135255" algn="l"/>
              </a:tabLst>
            </a:pPr>
            <a:r>
              <a:rPr lang="en-US" dirty="0"/>
              <a:t>The primary goal is to replace the outdated, manual shopping experience with a streamlined</a:t>
            </a:r>
            <a:br>
              <a:rPr lang="en-US" dirty="0"/>
            </a:br>
            <a:r>
              <a:rPr lang="en-US" b="1" dirty="0"/>
              <a:t>Data-Driven Transparency:</a:t>
            </a:r>
            <a:r>
              <a:rPr lang="en-US" dirty="0"/>
              <a:t> Empower customers with instant price transparency and digital record-keeping to ensure a trust-based shopping experience.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603" rIns="0" bIns="0" rtlCol="0">
            <a:spAutoFit/>
          </a:bodyPr>
          <a:lstStyle/>
          <a:p>
            <a:pPr marL="3311525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Implementation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048" y="1143000"/>
            <a:ext cx="9910445" cy="497187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Structure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Used</a:t>
            </a:r>
            <a:endParaRPr sz="2800" dirty="0">
              <a:latin typeface="Times New Roman"/>
              <a:cs typeface="Times New Roman"/>
            </a:endParaRPr>
          </a:p>
          <a:p>
            <a:pPr marL="239395" marR="508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4659630" algn="l"/>
              </a:tabLst>
            </a:pPr>
            <a:r>
              <a:rPr sz="2000" dirty="0">
                <a:latin typeface="Times New Roman"/>
                <a:cs typeface="Times New Roman"/>
              </a:rPr>
              <a:t>Chosen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Structure:</a:t>
            </a:r>
            <a:br>
              <a:rPr lang="en-US" sz="2800" dirty="0">
                <a:latin typeface="Times New Roman"/>
                <a:cs typeface="Times New Roman"/>
              </a:rPr>
            </a:br>
            <a:r>
              <a:rPr lang="en-US" b="1" dirty="0">
                <a:latin typeface="Times New Roman"/>
                <a:cs typeface="Times New Roman"/>
              </a:rPr>
              <a:t>f</a:t>
            </a:r>
            <a:r>
              <a:rPr lang="en-US" b="1" dirty="0"/>
              <a:t>or Store Inventory </a:t>
            </a:r>
            <a:r>
              <a:rPr lang="en-US" dirty="0"/>
              <a:t>(Product Catalog): 1D/2D Array</a:t>
            </a:r>
            <a:br>
              <a:rPr lang="en-US" dirty="0"/>
            </a:br>
            <a:r>
              <a:rPr lang="en-US" b="1" dirty="0"/>
              <a:t>For Customer Cart</a:t>
            </a:r>
            <a:r>
              <a:rPr lang="en-US" dirty="0"/>
              <a:t>: Singly Linked List</a:t>
            </a:r>
          </a:p>
          <a:p>
            <a:pPr marL="239395" marR="508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4659630" algn="l"/>
              </a:tabLst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Times New Roman"/>
                <a:cs typeface="Times New Roman"/>
              </a:rPr>
              <a:t>Reason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choice:</a:t>
            </a:r>
            <a:br>
              <a:rPr lang="en-US" sz="2800" b="1" spc="-10" dirty="0">
                <a:latin typeface="Times New Roman"/>
                <a:cs typeface="Times New Roman"/>
              </a:rPr>
            </a:br>
            <a:r>
              <a:rPr lang="en-US" b="1" spc="-10" dirty="0">
                <a:latin typeface="Times New Roman"/>
                <a:cs typeface="Times New Roman"/>
              </a:rPr>
              <a:t>Store Inventory (Array): </a:t>
            </a:r>
            <a:r>
              <a:rPr lang="en-US" spc="-10" dirty="0">
                <a:latin typeface="Times New Roman"/>
                <a:cs typeface="Times New Roman"/>
              </a:rPr>
              <a:t> Fast Access: Uses random access to instantly retrieve item prices and locations by their Index/ID.</a:t>
            </a:r>
            <a:br>
              <a:rPr lang="en-US" sz="1600" spc="-10" dirty="0">
                <a:latin typeface="Times New Roman"/>
                <a:cs typeface="Times New Roman"/>
              </a:rPr>
            </a:br>
            <a:r>
              <a:rPr lang="en-US" b="1" spc="-10" dirty="0">
                <a:latin typeface="Times New Roman"/>
                <a:cs typeface="Times New Roman"/>
              </a:rPr>
              <a:t>Customer Cart (Linked List): </a:t>
            </a:r>
            <a:r>
              <a:rPr lang="en-US" spc="-10" dirty="0">
                <a:latin typeface="Times New Roman"/>
                <a:cs typeface="Times New Roman"/>
              </a:rPr>
              <a:t> Dynamic Flexibility : Handles an unpredictable number of items without needing to pre-define a maximum limit</a:t>
            </a:r>
            <a:br>
              <a:rPr lang="en-US" sz="1600" spc="-10" dirty="0">
                <a:latin typeface="Times New Roman"/>
                <a:cs typeface="Times New Roman"/>
              </a:rPr>
            </a:br>
            <a:r>
              <a:rPr lang="en-US" b="1" spc="-10" dirty="0">
                <a:latin typeface="Times New Roman"/>
                <a:cs typeface="Times New Roman"/>
              </a:rPr>
              <a:t>Efficient Editing </a:t>
            </a:r>
            <a:r>
              <a:rPr lang="en-US" spc="-10" dirty="0">
                <a:latin typeface="Times New Roman"/>
                <a:cs typeface="Times New Roman"/>
              </a:rPr>
              <a:t>: Deleting an item only requires updating a pointer  rather than shifting hundreds of elements in an array</a:t>
            </a:r>
            <a:br>
              <a:rPr lang="en-US" sz="1600" spc="-10" dirty="0">
                <a:latin typeface="Times New Roman"/>
                <a:cs typeface="Times New Roman"/>
              </a:rPr>
            </a:br>
            <a:r>
              <a:rPr lang="en-US" b="1" dirty="0"/>
              <a:t>Optimized Billing </a:t>
            </a:r>
            <a:r>
              <a:rPr lang="en-US" dirty="0"/>
              <a:t>: Provides a fast and efficient way to traverse only the items being purchased to calculate the total bill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4923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System </a:t>
            </a:r>
            <a:r>
              <a:rPr sz="4400" spc="-10" dirty="0">
                <a:solidFill>
                  <a:srgbClr val="000000"/>
                </a:solidFill>
              </a:rPr>
              <a:t>Requirements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29157" y="1537208"/>
            <a:ext cx="275082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items</a:t>
            </a:r>
            <a:endParaRPr sz="1800" dirty="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Discount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handling</a:t>
            </a:r>
            <a:endParaRPr sz="1800" dirty="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spc="-30" dirty="0">
                <a:latin typeface="Times New Roman"/>
                <a:cs typeface="Times New Roman"/>
              </a:rPr>
              <a:t>Tax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calculation</a:t>
            </a:r>
            <a:endParaRPr sz="1800" dirty="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Invoice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generatio</a:t>
            </a:r>
            <a:r>
              <a:rPr lang="en-US" sz="1800" spc="-10" dirty="0">
                <a:latin typeface="Times New Roman"/>
                <a:cs typeface="Times New Roman"/>
              </a:rPr>
              <a:t>n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-590216"/>
            <a:ext cx="9974021" cy="1562607"/>
          </a:xfrm>
          <a:prstGeom prst="rect">
            <a:avLst/>
          </a:prstGeom>
        </p:spPr>
        <p:txBody>
          <a:bodyPr vert="horz" wrap="square" lIns="0" tIns="566877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Algorithm</a:t>
            </a:r>
            <a:r>
              <a:rPr sz="4400" spc="-2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Design</a:t>
            </a:r>
            <a:r>
              <a:rPr sz="4400" spc="-2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(CO1)</a:t>
            </a:r>
            <a:endParaRPr sz="4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031D62-6A4E-FEB5-7DD7-F3499235C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762000"/>
            <a:ext cx="9220200" cy="5029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E778CC9-25B7-3CAA-64FC-FE2FA10B79CD}"/>
              </a:ext>
            </a:extLst>
          </p:cNvPr>
          <p:cNvSpPr txBox="1"/>
          <p:nvPr/>
        </p:nvSpPr>
        <p:spPr>
          <a:xfrm>
            <a:off x="0" y="1095812"/>
            <a:ext cx="2081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Flow chart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15207F3B-70A4-DF89-E539-AAB2D6DBA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8453"/>
            <a:ext cx="3730508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SEARCH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/>
              <a:t>FOUND?</a:t>
            </a:r>
            <a:r>
              <a:rPr lang="en-IN" dirty="0"/>
              <a:t> (Yes / No)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(show error no item found)</a:t>
            </a:r>
            <a:b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I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yes 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,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/>
              <a:t>RETRIEVE</a:t>
            </a:r>
            <a:r>
              <a:rPr lang="en-IN" dirty="0"/>
              <a:t> (Price/Name)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/>
              <a:t>ACTION</a:t>
            </a:r>
            <a:r>
              <a:rPr lang="en-IN" dirty="0"/>
              <a:t> (Add/Remove)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1" dirty="0"/>
              <a:t>UPDATE CART</a:t>
            </a:r>
            <a:r>
              <a:rPr lang="en-IN" dirty="0"/>
              <a:t> (Linked List)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end</a:t>
            </a:r>
            <a:b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036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 Light"/>
                <a:cs typeface="Calibri Light"/>
              </a:rPr>
              <a:t>Comparison </a:t>
            </a:r>
            <a:r>
              <a:rPr sz="4400" spc="-60" dirty="0">
                <a:solidFill>
                  <a:srgbClr val="000000"/>
                </a:solidFill>
                <a:latin typeface="Calibri Light"/>
                <a:cs typeface="Calibri Light"/>
              </a:rPr>
              <a:t>Table</a:t>
            </a:r>
            <a:endParaRPr sz="44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7217" y="1541525"/>
          <a:ext cx="10516868" cy="393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80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Array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95044">
                        <a:lnSpc>
                          <a:spcPts val="28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Linked</a:t>
                      </a:r>
                      <a:r>
                        <a:rPr sz="24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List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sz="2400" b="1" spc="-1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Allocation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resized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Dynamic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Insertion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end,</a:t>
                      </a:r>
                      <a:r>
                        <a:rPr sz="2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costly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middle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Easy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anywhere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Deletion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shifting</a:t>
                      </a:r>
                      <a:r>
                        <a:rPr sz="2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elements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Pointer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adjustment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Search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search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search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Scalability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(resize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needed)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Flexible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Implementation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Slightly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complex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Small/medium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cart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0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Frequent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add/remove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77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Data</a:t>
            </a:r>
            <a:r>
              <a:rPr sz="4400" spc="-2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Structure Usage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(CO2)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04800" y="1752600"/>
            <a:ext cx="8857082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latin typeface="Times New Roman"/>
                <a:cs typeface="Times New Roman"/>
              </a:rPr>
              <a:t>1. STRUCTURE DEFINTION (The Node)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Data Part: </a:t>
            </a:r>
            <a:r>
              <a:rPr lang="en-US" sz="1800" dirty="0" err="1">
                <a:latin typeface="Times New Roman"/>
                <a:cs typeface="Times New Roman"/>
              </a:rPr>
              <a:t>itemID</a:t>
            </a:r>
            <a:r>
              <a:rPr lang="en-US" sz="1800" dirty="0">
                <a:latin typeface="Times New Roman"/>
                <a:cs typeface="Times New Roman"/>
              </a:rPr>
              <a:t>, </a:t>
            </a:r>
            <a:r>
              <a:rPr lang="en-US" sz="1800" dirty="0" err="1">
                <a:latin typeface="Times New Roman"/>
                <a:cs typeface="Times New Roman"/>
              </a:rPr>
              <a:t>itemName</a:t>
            </a:r>
            <a:r>
              <a:rPr lang="en-US" sz="1800" dirty="0">
                <a:latin typeface="Times New Roman"/>
                <a:cs typeface="Times New Roman"/>
              </a:rPr>
              <a:t>, price, </a:t>
            </a:r>
            <a:r>
              <a:rPr lang="en-US" sz="1800" dirty="0" err="1">
                <a:latin typeface="Times New Roman"/>
                <a:cs typeface="Times New Roman"/>
              </a:rPr>
              <a:t>discountPercent</a:t>
            </a: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Next Pointer: struct Node* next (This makes it a Linked List)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END DECLARE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2. </a:t>
            </a:r>
            <a:r>
              <a:rPr lang="en-US" sz="1800" b="1" dirty="0">
                <a:latin typeface="Times New Roman"/>
                <a:cs typeface="Times New Roman"/>
              </a:rPr>
              <a:t>INITIALIZATION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Inventory (Array): Product inventory[MAX]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Cart (Linked List): Node head = NULL (Start with an empty cart)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Tax: GST = 0.05 (5%)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2E5E7-2656-8142-B8F2-4D1CECFC3808}"/>
              </a:ext>
            </a:extLst>
          </p:cNvPr>
          <p:cNvSpPr txBox="1"/>
          <p:nvPr/>
        </p:nvSpPr>
        <p:spPr>
          <a:xfrm>
            <a:off x="6511924" y="1447800"/>
            <a:ext cx="568617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</a:t>
            </a:r>
            <a:r>
              <a:rPr lang="en-US" b="1" dirty="0"/>
              <a:t>ALGORITHMIC FLOW (CO2)</a:t>
            </a:r>
          </a:p>
          <a:p>
            <a:endParaRPr lang="en-US" dirty="0"/>
          </a:p>
          <a:p>
            <a:r>
              <a:rPr lang="en-US" b="1" dirty="0"/>
              <a:t>Search</a:t>
            </a:r>
            <a:r>
              <a:rPr lang="en-US" dirty="0"/>
              <a:t>: Match </a:t>
            </a:r>
            <a:r>
              <a:rPr lang="en-US" dirty="0" err="1"/>
              <a:t>inputID</a:t>
            </a:r>
            <a:r>
              <a:rPr lang="en-US" dirty="0"/>
              <a:t> against the inventory Array.</a:t>
            </a:r>
          </a:p>
          <a:p>
            <a:r>
              <a:rPr lang="en-US" b="1" dirty="0"/>
              <a:t>Create</a:t>
            </a:r>
            <a:r>
              <a:rPr lang="en-US" dirty="0"/>
              <a:t>: If found, allocate memory for a new Node.</a:t>
            </a:r>
          </a:p>
          <a:p>
            <a:r>
              <a:rPr lang="en-US" b="1" dirty="0"/>
              <a:t>Link</a:t>
            </a:r>
            <a:r>
              <a:rPr lang="en-US" dirty="0"/>
              <a:t>: Attach the new node to the head of the Cart List.</a:t>
            </a:r>
          </a:p>
          <a:p>
            <a:endParaRPr lang="en-US" dirty="0"/>
          </a:p>
          <a:p>
            <a:r>
              <a:rPr lang="en-US" b="1" dirty="0"/>
              <a:t>Calculate:</a:t>
            </a:r>
          </a:p>
          <a:p>
            <a:r>
              <a:rPr lang="en-US" dirty="0"/>
              <a:t>Traverse the List: Total = (Price * Qty) - Discount.</a:t>
            </a:r>
          </a:p>
          <a:p>
            <a:r>
              <a:rPr lang="en-US" dirty="0"/>
              <a:t>Final: Grand Total = Total + (Total * GST)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48" y="380187"/>
            <a:ext cx="4525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Pseudocode</a:t>
            </a:r>
            <a:r>
              <a:rPr sz="4400" spc="-50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(Part</a:t>
            </a:r>
            <a:r>
              <a:rPr sz="4400" spc="-15" dirty="0">
                <a:solidFill>
                  <a:srgbClr val="000000"/>
                </a:solidFill>
              </a:rPr>
              <a:t> </a:t>
            </a:r>
            <a:r>
              <a:rPr sz="4400" spc="-25" dirty="0">
                <a:solidFill>
                  <a:srgbClr val="000000"/>
                </a:solidFill>
              </a:rPr>
              <a:t>1)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28600" y="1134676"/>
            <a:ext cx="5562600" cy="433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Store data</a:t>
            </a:r>
            <a:br>
              <a:rPr lang="en-US" sz="1800" dirty="0">
                <a:latin typeface="Times New Roman"/>
                <a:cs typeface="Times New Roman"/>
              </a:rPr>
            </a:br>
            <a:r>
              <a:rPr lang="en-US" sz="1800" dirty="0">
                <a:latin typeface="Times New Roman"/>
                <a:cs typeface="Times New Roman"/>
              </a:rPr>
              <a:t> 1. DEFINE the structure for a single item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STRUCTURE Item: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id AS Integer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name AS String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price AS Float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END STRUCTURE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2. INITIALIZE the static array with fixed store data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DECLARE inventory AS Array of Item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inventory[0] = {id: 101, name: "Milk", price: 50.0}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inventory[1] = {id: 102, name: "Bread", price: 30.0}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inventory[2] = {id: 103, name: "Eggs", price: 10.0}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inventory[3] = {id: 104, name: "Butter", price: 45.0} 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7000" y="1134676"/>
            <a:ext cx="5715000" cy="492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3. Search and find 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INPUT </a:t>
            </a:r>
            <a:r>
              <a:rPr lang="en-US" sz="1800" dirty="0" err="1">
                <a:latin typeface="Times New Roman"/>
                <a:cs typeface="Times New Roman"/>
              </a:rPr>
              <a:t>search_name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</a:t>
            </a:r>
            <a:r>
              <a:rPr lang="en-US" sz="1800" dirty="0" err="1">
                <a:latin typeface="Times New Roman"/>
                <a:cs typeface="Times New Roman"/>
              </a:rPr>
              <a:t>found_item</a:t>
            </a:r>
            <a:r>
              <a:rPr lang="en-US" sz="1800" dirty="0">
                <a:latin typeface="Times New Roman"/>
                <a:cs typeface="Times New Roman"/>
              </a:rPr>
              <a:t> = NULL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FOR EACH item IN inventory: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IF item.name EQUALS </a:t>
            </a:r>
            <a:r>
              <a:rPr lang="en-US" sz="1800" dirty="0" err="1">
                <a:latin typeface="Times New Roman"/>
                <a:cs typeface="Times New Roman"/>
              </a:rPr>
              <a:t>search_name</a:t>
            </a:r>
            <a:r>
              <a:rPr lang="en-US" sz="1800" dirty="0">
                <a:latin typeface="Times New Roman"/>
                <a:cs typeface="Times New Roman"/>
              </a:rPr>
              <a:t>: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    </a:t>
            </a:r>
            <a:r>
              <a:rPr lang="en-US" sz="1800" dirty="0" err="1">
                <a:latin typeface="Times New Roman"/>
                <a:cs typeface="Times New Roman"/>
              </a:rPr>
              <a:t>found_item</a:t>
            </a:r>
            <a:r>
              <a:rPr lang="en-US" sz="1800" dirty="0">
                <a:latin typeface="Times New Roman"/>
                <a:cs typeface="Times New Roman"/>
              </a:rPr>
              <a:t> = item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    BREAK LOOP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END IF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END FOR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IF </a:t>
            </a:r>
            <a:r>
              <a:rPr lang="en-US" sz="1800" dirty="0" err="1">
                <a:latin typeface="Times New Roman"/>
                <a:cs typeface="Times New Roman"/>
              </a:rPr>
              <a:t>found_item</a:t>
            </a:r>
            <a:r>
              <a:rPr lang="en-US" sz="1800" dirty="0">
                <a:latin typeface="Times New Roman"/>
                <a:cs typeface="Times New Roman"/>
              </a:rPr>
              <a:t> IS NULL: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DISPLAY "Error: Item not found"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ELSE: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DISPLAY "Item Found: " + found_item.name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END IF</a:t>
            </a:r>
          </a:p>
          <a:p>
            <a:pPr marL="12700" marR="5080" indent="2286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188" y="72898"/>
            <a:ext cx="41167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Pseudocode</a:t>
            </a:r>
            <a:r>
              <a:rPr sz="4000" spc="-135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(Part</a:t>
            </a:r>
            <a:r>
              <a:rPr sz="4000" spc="-130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2)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5118988" y="1066800"/>
            <a:ext cx="6934200" cy="3754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5. Final </a:t>
            </a:r>
            <a:r>
              <a:rPr lang="en-US" dirty="0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nvoice </a:t>
            </a:r>
            <a:br>
              <a:rPr lang="en-US" sz="1800" dirty="0">
                <a:latin typeface="Times New Roman"/>
                <a:cs typeface="Times New Roman"/>
              </a:rPr>
            </a:br>
            <a:r>
              <a:rPr lang="en-US" sz="1800" dirty="0">
                <a:latin typeface="Times New Roman"/>
                <a:cs typeface="Times New Roman"/>
              </a:rPr>
              <a:t>SET current = head</a:t>
            </a: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subtotal = 0</a:t>
            </a: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WHILE current IS NOT NULL:</a:t>
            </a: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</a:t>
            </a:r>
            <a:r>
              <a:rPr lang="en-US" sz="1800" dirty="0" err="1">
                <a:latin typeface="Times New Roman"/>
                <a:cs typeface="Times New Roman"/>
              </a:rPr>
              <a:t>total_price</a:t>
            </a:r>
            <a:r>
              <a:rPr lang="en-US" sz="1800" dirty="0">
                <a:latin typeface="Times New Roman"/>
                <a:cs typeface="Times New Roman"/>
              </a:rPr>
              <a:t> = </a:t>
            </a:r>
            <a:r>
              <a:rPr lang="en-US" sz="1800" dirty="0" err="1">
                <a:latin typeface="Times New Roman"/>
                <a:cs typeface="Times New Roman"/>
              </a:rPr>
              <a:t>current.price</a:t>
            </a:r>
            <a:r>
              <a:rPr lang="en-US" sz="1800" dirty="0">
                <a:latin typeface="Times New Roman"/>
                <a:cs typeface="Times New Roman"/>
              </a:rPr>
              <a:t> * </a:t>
            </a:r>
            <a:r>
              <a:rPr lang="en-US" sz="1800" dirty="0" err="1">
                <a:latin typeface="Times New Roman"/>
                <a:cs typeface="Times New Roman"/>
              </a:rPr>
              <a:t>current.qty</a:t>
            </a:r>
            <a:endParaRPr lang="en-US" sz="1800" dirty="0">
              <a:latin typeface="Times New Roman"/>
              <a:cs typeface="Times New Roman"/>
            </a:endParaRP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DISPLAY current.name, </a:t>
            </a:r>
            <a:r>
              <a:rPr lang="en-US" sz="1800" dirty="0" err="1">
                <a:latin typeface="Times New Roman"/>
                <a:cs typeface="Times New Roman"/>
              </a:rPr>
              <a:t>current.qty</a:t>
            </a:r>
            <a:r>
              <a:rPr lang="en-US" sz="1800" dirty="0">
                <a:latin typeface="Times New Roman"/>
                <a:cs typeface="Times New Roman"/>
              </a:rPr>
              <a:t>, </a:t>
            </a:r>
            <a:r>
              <a:rPr lang="en-US" sz="1800" dirty="0" err="1">
                <a:latin typeface="Times New Roman"/>
                <a:cs typeface="Times New Roman"/>
              </a:rPr>
              <a:t>total_price</a:t>
            </a:r>
            <a:endParaRPr lang="en-US" sz="1800" dirty="0">
              <a:latin typeface="Times New Roman"/>
              <a:cs typeface="Times New Roman"/>
            </a:endParaRP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subtotal = subtotal + </a:t>
            </a:r>
            <a:r>
              <a:rPr lang="en-US" sz="1800" dirty="0" err="1">
                <a:latin typeface="Times New Roman"/>
                <a:cs typeface="Times New Roman"/>
              </a:rPr>
              <a:t>total_price</a:t>
            </a:r>
            <a:endParaRPr lang="en-US" sz="1800" dirty="0">
              <a:latin typeface="Times New Roman"/>
              <a:cs typeface="Times New Roman"/>
            </a:endParaRP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  current = </a:t>
            </a:r>
            <a:r>
              <a:rPr lang="en-US" sz="1800" dirty="0" err="1">
                <a:latin typeface="Times New Roman"/>
                <a:cs typeface="Times New Roman"/>
              </a:rPr>
              <a:t>current.next</a:t>
            </a:r>
            <a:r>
              <a:rPr lang="en-US" sz="1800" dirty="0">
                <a:latin typeface="Times New Roman"/>
                <a:cs typeface="Times New Roman"/>
              </a:rPr>
              <a:t> // Move to next node</a:t>
            </a: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END WHILE</a:t>
            </a: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SET tax = subtotal * 0.05</a:t>
            </a:r>
          </a:p>
          <a:p>
            <a:pPr marL="241300" marR="950594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DISPLAY "Grand Total: " + (subtotal + tax)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55AEA3-1C59-3BA3-A3E1-B92BCCD3C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1494282"/>
            <a:ext cx="4648200" cy="2769989"/>
          </a:xfrm>
        </p:spPr>
        <p:txBody>
          <a:bodyPr/>
          <a:lstStyle/>
          <a:p>
            <a:r>
              <a:rPr lang="en-US" dirty="0"/>
              <a:t>4. Loop logic </a:t>
            </a:r>
            <a:br>
              <a:rPr lang="en-US" dirty="0"/>
            </a:br>
            <a:r>
              <a:rPr lang="en-US" b="0" dirty="0"/>
              <a:t>LOOP:</a:t>
            </a:r>
          </a:p>
          <a:p>
            <a:r>
              <a:rPr lang="en-US" b="0" dirty="0"/>
              <a:t>    // Run Search and Add Steps here...</a:t>
            </a:r>
          </a:p>
          <a:p>
            <a:r>
              <a:rPr lang="en-US" b="0" dirty="0"/>
              <a:t>    </a:t>
            </a:r>
          </a:p>
          <a:p>
            <a:r>
              <a:rPr lang="en-US" b="0" dirty="0"/>
              <a:t>    INPUT choice ("Add more items? yes/no")</a:t>
            </a:r>
          </a:p>
          <a:p>
            <a:r>
              <a:rPr lang="en-US" b="0" dirty="0"/>
              <a:t>    IF choice EQUALS "no":</a:t>
            </a:r>
          </a:p>
          <a:p>
            <a:r>
              <a:rPr lang="en-US" b="0" dirty="0"/>
              <a:t>        BREAK LOOP</a:t>
            </a:r>
          </a:p>
          <a:p>
            <a:r>
              <a:rPr lang="en-US" b="0" dirty="0"/>
              <a:t>END LOOP</a:t>
            </a:r>
          </a:p>
          <a:p>
            <a:r>
              <a:rPr lang="en-US" b="0" dirty="0"/>
              <a:t>  if choice equal “yes”: go to search again and loop continues </a:t>
            </a:r>
            <a:endParaRPr lang="en-IN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48" y="72898"/>
            <a:ext cx="9974021" cy="1249521"/>
          </a:xfrm>
          <a:prstGeom prst="rect">
            <a:avLst/>
          </a:prstGeom>
        </p:spPr>
        <p:txBody>
          <a:bodyPr vert="horz" wrap="square" lIns="0" tIns="566877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Justification</a:t>
            </a:r>
            <a:r>
              <a:rPr sz="4400" spc="-75" dirty="0">
                <a:solidFill>
                  <a:srgbClr val="000000"/>
                </a:solidFill>
              </a:rPr>
              <a:t> </a:t>
            </a:r>
            <a:r>
              <a:rPr sz="4400" dirty="0">
                <a:solidFill>
                  <a:srgbClr val="000000"/>
                </a:solidFill>
              </a:rPr>
              <a:t>(CO3)</a:t>
            </a:r>
            <a:r>
              <a:rPr sz="4400" spc="-30" dirty="0">
                <a:solidFill>
                  <a:srgbClr val="000000"/>
                </a:solidFill>
              </a:rPr>
              <a:t> </a:t>
            </a:r>
            <a:endParaRPr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085B4-2FDF-EEAC-1D41-125CA713CE96}"/>
              </a:ext>
            </a:extLst>
          </p:cNvPr>
          <p:cNvSpPr txBox="1"/>
          <p:nvPr/>
        </p:nvSpPr>
        <p:spPr>
          <a:xfrm>
            <a:off x="1" y="1626361"/>
            <a:ext cx="1203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b="1" dirty="0"/>
              <a:t>Why use an Array? (The Inventory)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Where: Used to store the Master Product List (the store's database).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Why: * Fixed Data: The items sold in the store (ID, Name, Price) do not change frequently during a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Efficiency: Arrays provide a structured way to perform a Linear Search to find product details by name or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Overhead: Since the number of products is usually known, an array is the simplest way to keep this data "Read-Only."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F33E8-C1E3-631E-4391-1F7B3C509D8D}"/>
              </a:ext>
            </a:extLst>
          </p:cNvPr>
          <p:cNvSpPr txBox="1"/>
          <p:nvPr/>
        </p:nvSpPr>
        <p:spPr>
          <a:xfrm>
            <a:off x="0" y="4114800"/>
            <a:ext cx="52026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b="1" dirty="0"/>
              <a:t>WHY USE A LINKED LIST? (The Billing Cart) </a:t>
            </a:r>
          </a:p>
          <a:p>
            <a:r>
              <a:rPr lang="en-US" dirty="0"/>
              <a:t>WHERE: Used to store the customer's selected items and quantities. </a:t>
            </a:r>
          </a:p>
          <a:p>
            <a:r>
              <a:rPr lang="en-US" dirty="0"/>
              <a:t> WHY: - Dynamic Growth: We don't know if a user buys 1 or 100 items; Linked Lists grow as needed. </a:t>
            </a:r>
          </a:p>
          <a:p>
            <a:r>
              <a:rPr lang="en-US" dirty="0"/>
              <a:t>- Insertion: Adding a new item to the 'Head' is instant, regardless of cart size. </a:t>
            </a:r>
          </a:p>
          <a:p>
            <a:r>
              <a:rPr lang="en-US" dirty="0"/>
              <a:t>- Efficiency: No pre-allocation of memory is required (unlike an array like cart[1000]).</a:t>
            </a:r>
          </a:p>
          <a:p>
            <a:r>
              <a:rPr lang="en-US" dirty="0"/>
              <a:t>- No Shifting: Removing an item only requires changing a pointer, not moving all data.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2578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</a:rPr>
              <a:t>Conclusion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454277"/>
            <a:ext cx="21412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Summary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approach</a:t>
            </a:r>
            <a:endParaRPr sz="1800" dirty="0">
              <a:latin typeface="Times New Roman"/>
              <a:cs typeface="Time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C037BE-0024-89DB-3D55-412F6E24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891318"/>
              </p:ext>
            </p:extLst>
          </p:nvPr>
        </p:nvGraphicFramePr>
        <p:xfrm>
          <a:off x="533400" y="1874707"/>
          <a:ext cx="10604499" cy="2590800"/>
        </p:xfrm>
        <a:graphic>
          <a:graphicData uri="http://schemas.openxmlformats.org/drawingml/2006/table">
            <a:tbl>
              <a:tblPr/>
              <a:tblGrid>
                <a:gridCol w="3534833">
                  <a:extLst>
                    <a:ext uri="{9D8B030D-6E8A-4147-A177-3AD203B41FA5}">
                      <a16:colId xmlns:a16="http://schemas.microsoft.com/office/drawing/2014/main" val="197984185"/>
                    </a:ext>
                  </a:extLst>
                </a:gridCol>
                <a:gridCol w="3534833">
                  <a:extLst>
                    <a:ext uri="{9D8B030D-6E8A-4147-A177-3AD203B41FA5}">
                      <a16:colId xmlns:a16="http://schemas.microsoft.com/office/drawing/2014/main" val="4097755963"/>
                    </a:ext>
                  </a:extLst>
                </a:gridCol>
                <a:gridCol w="3534833">
                  <a:extLst>
                    <a:ext uri="{9D8B030D-6E8A-4147-A177-3AD203B41FA5}">
                      <a16:colId xmlns:a16="http://schemas.microsoft.com/office/drawing/2014/main" val="1983757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Inventory (Array)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Billing Cart (Linked List)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982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 / Fixed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Dynamic / Growing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4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Memory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Contiguous (Blocks)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Non-contiguous (Scattered)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71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Insertion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Difficult (if size limit hit)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(Instant at Head)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349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Use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Looking up Prices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Adding/Removing Items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5462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178F3B-47DD-DBDE-BF45-CD2D74785ACA}"/>
              </a:ext>
            </a:extLst>
          </p:cNvPr>
          <p:cNvSpPr txBox="1"/>
          <p:nvPr/>
        </p:nvSpPr>
        <p:spPr>
          <a:xfrm>
            <a:off x="152400" y="228600"/>
            <a:ext cx="9873216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i="1" dirty="0"/>
              <a:t>Key learnings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Hybrid Data Structures</a:t>
            </a:r>
            <a:r>
              <a:rPr lang="en-US" dirty="0"/>
              <a:t>: Combined Static Arrays (Inventory) with Singly Linked Lists (Cart).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 Management</a:t>
            </a:r>
            <a:r>
              <a:rPr lang="en-US" dirty="0"/>
              <a:t>: Used dynamic node allocation to save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Time Efficiency</a:t>
            </a:r>
            <a:r>
              <a:rPr lang="en-US" dirty="0"/>
              <a:t>: Implemented insertion logic for the billing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Pointer Logic</a:t>
            </a:r>
            <a:r>
              <a:rPr lang="en-US" dirty="0"/>
              <a:t>: Mastered using next pointers to link and traverse data blocks.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Input Validation</a:t>
            </a:r>
            <a:r>
              <a:rPr lang="en-US" dirty="0"/>
              <a:t>: Built robust loops to handle user errors and invalid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7DF094-F922-49A4-DDF9-CC2F035B97BD}"/>
              </a:ext>
            </a:extLst>
          </p:cNvPr>
          <p:cNvSpPr txBox="1"/>
          <p:nvPr/>
        </p:nvSpPr>
        <p:spPr>
          <a:xfrm>
            <a:off x="152400" y="2590800"/>
            <a:ext cx="1288686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Final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Optimal Architecture</a:t>
            </a:r>
            <a:r>
              <a:rPr lang="en-US" dirty="0"/>
              <a:t>: Selected a hybrid model combining Arrays for search speed and Linked Lists for storage flexibility.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Chose Linked Lists to allow the billing cart to grow indefinitely without pre-allocating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Guarantee</a:t>
            </a:r>
            <a:r>
              <a:rPr lang="en-US" dirty="0"/>
              <a:t>: Prioritized  insertion logic to ensure the system remains fast as the bill gets longer.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Reliability</a:t>
            </a:r>
            <a:r>
              <a:rPr lang="en-US" dirty="0"/>
              <a:t>: Used a static inventory "Source of Truth" to prevent errors in pricing and item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 Resilience</a:t>
            </a:r>
            <a:r>
              <a:rPr lang="en-US" dirty="0"/>
              <a:t>: Incorporated mandatory validation loops to ensure the software is production-ready and crash-proof.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89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1398</Words>
  <Application>Microsoft Office PowerPoint</Application>
  <PresentationFormat>Widescreen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MT</vt:lpstr>
      <vt:lpstr>Calibri</vt:lpstr>
      <vt:lpstr>Calibri Light</vt:lpstr>
      <vt:lpstr>Google Sans Text</vt:lpstr>
      <vt:lpstr>Times New Roman</vt:lpstr>
      <vt:lpstr>Office Theme</vt:lpstr>
      <vt:lpstr>Online Grocery Billing System</vt:lpstr>
      <vt:lpstr>Index</vt:lpstr>
      <vt:lpstr>Problem Overview</vt:lpstr>
      <vt:lpstr>Problem statement</vt:lpstr>
      <vt:lpstr>Implementation</vt:lpstr>
      <vt:lpstr>System Requirements</vt:lpstr>
      <vt:lpstr>Algorithm Design (CO1)</vt:lpstr>
      <vt:lpstr>Comparison Table</vt:lpstr>
      <vt:lpstr>Data Structure Usage (CO2)</vt:lpstr>
      <vt:lpstr>Pseudocode (Part 1)</vt:lpstr>
      <vt:lpstr>Pseudocode (Part 2)</vt:lpstr>
      <vt:lpstr>Justification (CO3)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Online Grocery Billing System</dc:title>
  <dc:creator>Dell</dc:creator>
  <cp:lastModifiedBy>yash kharmale</cp:lastModifiedBy>
  <cp:revision>2</cp:revision>
  <dcterms:created xsi:type="dcterms:W3CDTF">2026-03-07T17:33:22Z</dcterms:created>
  <dcterms:modified xsi:type="dcterms:W3CDTF">2026-03-07T19:09:06Z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PowerPoint® 2016</vt:lpwstr>
  </property>
</Properties>
</file>